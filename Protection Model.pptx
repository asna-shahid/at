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66" r:id="rId2"/>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9" autoAdjust="0"/>
    <p:restoredTop sz="94660"/>
  </p:normalViewPr>
  <p:slideViewPr>
    <p:cSldViewPr snapToGrid="0">
      <p:cViewPr varScale="1">
        <p:scale>
          <a:sx n="72" d="100"/>
          <a:sy n="72" d="100"/>
        </p:scale>
        <p:origin x="6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2024556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210296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3702615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2C7041-D314-44A2-8448-FF368CD678CE}"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679019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2C7041-D314-44A2-8448-FF368CD678CE}" type="datetimeFigureOut">
              <a:rPr lang="en-US" smtClean="0"/>
              <a:t>10/30/2024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2335263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2985102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2767742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142661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2C7041-D314-44A2-8448-FF368CD678CE}"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866239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2C7041-D314-44A2-8448-FF368CD678CE}"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3419694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1932311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61727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4005445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42C7041-D314-44A2-8448-FF368CD678CE}" type="datetimeFigureOut">
              <a:rPr lang="en-US" smtClean="0"/>
              <a:t>10/30/2024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3877531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42C7041-D314-44A2-8448-FF368CD678CE}" type="datetimeFigureOut">
              <a:rPr lang="en-US" smtClean="0"/>
              <a:t>10/30/2024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28762170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29936135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2C7041-D314-44A2-8448-FF368CD678CE}"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58EFE-3B4B-47F4-ABEE-AA617265D0F4}" type="slidenum">
              <a:rPr lang="en-US" smtClean="0"/>
              <a:t>‹#›</a:t>
            </a:fld>
            <a:endParaRPr lang="en-US"/>
          </a:p>
        </p:txBody>
      </p:sp>
    </p:spTree>
    <p:extLst>
      <p:ext uri="{BB962C8B-B14F-4D97-AF65-F5344CB8AC3E}">
        <p14:creationId xmlns:p14="http://schemas.microsoft.com/office/powerpoint/2010/main" val="1608198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42C7041-D314-44A2-8448-FF368CD678CE}" type="datetimeFigureOut">
              <a:rPr lang="en-US" smtClean="0"/>
              <a:t>10/30/2024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C58EFE-3B4B-47F4-ABEE-AA617265D0F4}" type="slidenum">
              <a:rPr lang="en-US" smtClean="0"/>
              <a:t>‹#›</a:t>
            </a:fld>
            <a:endParaRPr lang="en-US"/>
          </a:p>
        </p:txBody>
      </p:sp>
    </p:spTree>
    <p:extLst>
      <p:ext uri="{BB962C8B-B14F-4D97-AF65-F5344CB8AC3E}">
        <p14:creationId xmlns:p14="http://schemas.microsoft.com/office/powerpoint/2010/main" val="3873222785"/>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F417-D389-2B20-7062-3F7CC3F7B6DA}"/>
              </a:ext>
            </a:extLst>
          </p:cNvPr>
          <p:cNvSpPr>
            <a:spLocks noGrp="1"/>
          </p:cNvSpPr>
          <p:nvPr>
            <p:ph type="ctrTitle"/>
          </p:nvPr>
        </p:nvSpPr>
        <p:spPr/>
        <p:txBody>
          <a:bodyPr/>
          <a:lstStyle/>
          <a:p>
            <a:r>
              <a:rPr lang="en-US" sz="4600" dirty="0"/>
              <a:t>Name   </a:t>
            </a:r>
            <a:r>
              <a:rPr lang="en-US" sz="4600" dirty="0" err="1"/>
              <a:t>Arqum</a:t>
            </a:r>
            <a:r>
              <a:rPr lang="en-US" sz="4600" dirty="0"/>
              <a:t> Hanif</a:t>
            </a:r>
            <a:br>
              <a:rPr lang="en-US" sz="4600" dirty="0"/>
            </a:br>
            <a:r>
              <a:rPr lang="en-US" sz="4600" dirty="0"/>
              <a:t>Roll no  60628</a:t>
            </a:r>
            <a:br>
              <a:rPr lang="en-US" sz="4600" dirty="0"/>
            </a:br>
            <a:r>
              <a:rPr lang="en-US" sz="4600" dirty="0"/>
              <a:t>Class     Bs-CS-3</a:t>
            </a:r>
            <a:r>
              <a:rPr lang="en-US" sz="4600" baseline="30000" dirty="0"/>
              <a:t>rd</a:t>
            </a:r>
            <a:r>
              <a:rPr lang="en-US" sz="4600" dirty="0"/>
              <a:t>(M)</a:t>
            </a:r>
            <a:br>
              <a:rPr lang="en-US" sz="4600"/>
            </a:br>
            <a:r>
              <a:rPr lang="en-US" sz="4600"/>
              <a:t>Subject  </a:t>
            </a:r>
            <a:r>
              <a:rPr lang="en-US" sz="4600" dirty="0"/>
              <a:t>Information Security</a:t>
            </a:r>
          </a:p>
        </p:txBody>
      </p:sp>
    </p:spTree>
    <p:extLst>
      <p:ext uri="{BB962C8B-B14F-4D97-AF65-F5344CB8AC3E}">
        <p14:creationId xmlns:p14="http://schemas.microsoft.com/office/powerpoint/2010/main" val="351275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BBDFC-75B3-1800-373B-62F8264921F2}"/>
              </a:ext>
            </a:extLst>
          </p:cNvPr>
          <p:cNvSpPr>
            <a:spLocks noGrp="1"/>
          </p:cNvSpPr>
          <p:nvPr>
            <p:ph type="ctrTitle"/>
          </p:nvPr>
        </p:nvSpPr>
        <p:spPr/>
        <p:txBody>
          <a:bodyPr/>
          <a:lstStyle/>
          <a:p>
            <a:r>
              <a:rPr lang="en-US" dirty="0"/>
              <a:t>Protection Model </a:t>
            </a:r>
          </a:p>
        </p:txBody>
      </p:sp>
      <p:sp>
        <p:nvSpPr>
          <p:cNvPr id="3" name="Subtitle 2">
            <a:extLst>
              <a:ext uri="{FF2B5EF4-FFF2-40B4-BE49-F238E27FC236}">
                <a16:creationId xmlns:a16="http://schemas.microsoft.com/office/drawing/2014/main" id="{5BC6FA07-1BC6-D599-6771-4C48541827E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9754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0989F-4791-4141-7C2C-A8F6D76C39E8}"/>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59A24F82-99B0-E94F-04F3-4B594CEE9399}"/>
              </a:ext>
            </a:extLst>
          </p:cNvPr>
          <p:cNvSpPr>
            <a:spLocks noGrp="1"/>
          </p:cNvSpPr>
          <p:nvPr>
            <p:ph idx="1"/>
          </p:nvPr>
        </p:nvSpPr>
        <p:spPr/>
        <p:txBody>
          <a:bodyPr/>
          <a:lstStyle/>
          <a:p>
            <a:r>
              <a:rPr lang="en-US" dirty="0"/>
              <a:t> *protection model* defines strategies and frameworks for safeguarding data, systems, and resources against unauthorized access, misuse, or breaches. These models establish rules and mechanisms to ensure confidentiality, integrity, and availability (the CIA triad) of information</a:t>
            </a:r>
          </a:p>
        </p:txBody>
      </p:sp>
    </p:spTree>
    <p:extLst>
      <p:ext uri="{BB962C8B-B14F-4D97-AF65-F5344CB8AC3E}">
        <p14:creationId xmlns:p14="http://schemas.microsoft.com/office/powerpoint/2010/main" val="3983053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EC51D-4BDC-6A7C-5F71-B34C58F68B81}"/>
              </a:ext>
            </a:extLst>
          </p:cNvPr>
          <p:cNvSpPr>
            <a:spLocks noGrp="1"/>
          </p:cNvSpPr>
          <p:nvPr>
            <p:ph type="title"/>
          </p:nvPr>
        </p:nvSpPr>
        <p:spPr/>
        <p:txBody>
          <a:bodyPr/>
          <a:lstStyle/>
          <a:p>
            <a:r>
              <a:rPr lang="en-US" dirty="0"/>
              <a:t>*Bell-</a:t>
            </a:r>
            <a:r>
              <a:rPr lang="en-US" dirty="0" err="1"/>
              <a:t>LaPadula</a:t>
            </a:r>
            <a:r>
              <a:rPr lang="en-US" dirty="0"/>
              <a:t> (BLP) Model*</a:t>
            </a:r>
          </a:p>
        </p:txBody>
      </p:sp>
      <p:sp>
        <p:nvSpPr>
          <p:cNvPr id="3" name="Content Placeholder 2">
            <a:extLst>
              <a:ext uri="{FF2B5EF4-FFF2-40B4-BE49-F238E27FC236}">
                <a16:creationId xmlns:a16="http://schemas.microsoft.com/office/drawing/2014/main" id="{69E183B6-6C2E-58F7-9EBF-3089D5596560}"/>
              </a:ext>
            </a:extLst>
          </p:cNvPr>
          <p:cNvSpPr>
            <a:spLocks noGrp="1"/>
          </p:cNvSpPr>
          <p:nvPr>
            <p:ph idx="1"/>
          </p:nvPr>
        </p:nvSpPr>
        <p:spPr/>
        <p:txBody>
          <a:bodyPr>
            <a:noAutofit/>
          </a:bodyPr>
          <a:lstStyle/>
          <a:p>
            <a:r>
              <a:rPr lang="en-US" sz="1700" dirty="0"/>
              <a:t>Focus: Confidentiality</a:t>
            </a:r>
          </a:p>
          <a:p>
            <a:r>
              <a:rPr lang="en-US" sz="1700" dirty="0"/>
              <a:t>Purpose:</a:t>
            </a:r>
          </a:p>
          <a:p>
            <a:r>
              <a:rPr lang="en-US" sz="1700" dirty="0"/>
              <a:t> Primarily designed to prevent unauthorized disclosure of data.</a:t>
            </a:r>
          </a:p>
          <a:p>
            <a:r>
              <a:rPr lang="en-US" sz="1700" dirty="0"/>
              <a:t>- Key Principles:    </a:t>
            </a:r>
          </a:p>
          <a:p>
            <a:r>
              <a:rPr lang="en-US" sz="1700" dirty="0"/>
              <a:t> - Simple Security Property: A subject (user or process) at a given security level cannot read data at a higher security level (no read-up).     - </a:t>
            </a:r>
          </a:p>
          <a:p>
            <a:r>
              <a:rPr lang="en-US" sz="1700" dirty="0"/>
              <a:t>Star Property :</a:t>
            </a:r>
          </a:p>
          <a:p>
            <a:r>
              <a:rPr lang="en-US" sz="1700" dirty="0"/>
              <a:t> A subject at a given security level cannot write data to a lower security level (no write-down), preventing sensitive information leakage.   </a:t>
            </a:r>
          </a:p>
          <a:p>
            <a:r>
              <a:rPr lang="en-US" sz="1700" dirty="0"/>
              <a:t>Use Cases: </a:t>
            </a:r>
          </a:p>
          <a:p>
            <a:r>
              <a:rPr lang="en-US" sz="1700" dirty="0"/>
              <a:t>Commonly used in military and government systems, where maintaining confidentiality is critical.</a:t>
            </a:r>
          </a:p>
        </p:txBody>
      </p:sp>
    </p:spTree>
    <p:extLst>
      <p:ext uri="{BB962C8B-B14F-4D97-AF65-F5344CB8AC3E}">
        <p14:creationId xmlns:p14="http://schemas.microsoft.com/office/powerpoint/2010/main" val="2148023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9D41-4E03-6450-4D6A-95C3B3F61283}"/>
              </a:ext>
            </a:extLst>
          </p:cNvPr>
          <p:cNvSpPr>
            <a:spLocks noGrp="1"/>
          </p:cNvSpPr>
          <p:nvPr>
            <p:ph type="title"/>
          </p:nvPr>
        </p:nvSpPr>
        <p:spPr/>
        <p:txBody>
          <a:bodyPr/>
          <a:lstStyle/>
          <a:p>
            <a:r>
              <a:rPr lang="en-US" dirty="0"/>
              <a:t> Biba Model</a:t>
            </a:r>
          </a:p>
        </p:txBody>
      </p:sp>
      <p:sp>
        <p:nvSpPr>
          <p:cNvPr id="3" name="Content Placeholder 2">
            <a:extLst>
              <a:ext uri="{FF2B5EF4-FFF2-40B4-BE49-F238E27FC236}">
                <a16:creationId xmlns:a16="http://schemas.microsoft.com/office/drawing/2014/main" id="{34657D59-638A-41E6-0DBE-047ADF10BB8C}"/>
              </a:ext>
            </a:extLst>
          </p:cNvPr>
          <p:cNvSpPr>
            <a:spLocks noGrp="1"/>
          </p:cNvSpPr>
          <p:nvPr>
            <p:ph idx="1"/>
          </p:nvPr>
        </p:nvSpPr>
        <p:spPr/>
        <p:txBody>
          <a:bodyPr>
            <a:normAutofit/>
          </a:bodyPr>
          <a:lstStyle/>
          <a:p>
            <a:r>
              <a:rPr lang="en-US" sz="1700" dirty="0"/>
              <a:t> Focus: Integrity   -</a:t>
            </a:r>
          </a:p>
          <a:p>
            <a:r>
              <a:rPr lang="en-US" sz="1700" dirty="0"/>
              <a:t> Purpose: Prevents unauthorized modification of data, ensuring data integrity.   Key Principles:   </a:t>
            </a:r>
          </a:p>
          <a:p>
            <a:r>
              <a:rPr lang="en-US" sz="1700" dirty="0"/>
              <a:t>  Simple Integrity Property:</a:t>
            </a:r>
          </a:p>
          <a:p>
            <a:r>
              <a:rPr lang="en-US" sz="1700" dirty="0"/>
              <a:t>A subject cannot read data at a lower integrity level (no read-down).     </a:t>
            </a:r>
          </a:p>
          <a:p>
            <a:r>
              <a:rPr lang="en-US" sz="1700" dirty="0"/>
              <a:t> Star Integrity Property: </a:t>
            </a:r>
          </a:p>
          <a:p>
            <a:r>
              <a:rPr lang="en-US" sz="1700" dirty="0"/>
              <a:t>A subject cannot write to data at a higher integrity level (no write-up), preventing low-integrity data from contaminating high-integrity levels.   </a:t>
            </a:r>
          </a:p>
          <a:p>
            <a:r>
              <a:rPr lang="en-US" sz="1700" dirty="0"/>
              <a:t>Use Cases: Financial systems, medical records, and other environments where data accuracy and integrity are paramount.</a:t>
            </a:r>
          </a:p>
        </p:txBody>
      </p:sp>
    </p:spTree>
    <p:extLst>
      <p:ext uri="{BB962C8B-B14F-4D97-AF65-F5344CB8AC3E}">
        <p14:creationId xmlns:p14="http://schemas.microsoft.com/office/powerpoint/2010/main" val="1015458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0907-798F-2BAB-8BD1-6A8B8A8E35BE}"/>
              </a:ext>
            </a:extLst>
          </p:cNvPr>
          <p:cNvSpPr>
            <a:spLocks noGrp="1"/>
          </p:cNvSpPr>
          <p:nvPr>
            <p:ph type="title"/>
          </p:nvPr>
        </p:nvSpPr>
        <p:spPr/>
        <p:txBody>
          <a:bodyPr/>
          <a:lstStyle/>
          <a:p>
            <a:r>
              <a:rPr lang="en-US" dirty="0"/>
              <a:t>Clark-Wilson Model</a:t>
            </a:r>
          </a:p>
        </p:txBody>
      </p:sp>
      <p:sp>
        <p:nvSpPr>
          <p:cNvPr id="3" name="Content Placeholder 2">
            <a:extLst>
              <a:ext uri="{FF2B5EF4-FFF2-40B4-BE49-F238E27FC236}">
                <a16:creationId xmlns:a16="http://schemas.microsoft.com/office/drawing/2014/main" id="{406C601C-31AF-F5F2-22C7-605F36623682}"/>
              </a:ext>
            </a:extLst>
          </p:cNvPr>
          <p:cNvSpPr>
            <a:spLocks noGrp="1"/>
          </p:cNvSpPr>
          <p:nvPr>
            <p:ph idx="1"/>
          </p:nvPr>
        </p:nvSpPr>
        <p:spPr/>
        <p:txBody>
          <a:bodyPr>
            <a:normAutofit fontScale="85000" lnSpcReduction="10000"/>
          </a:bodyPr>
          <a:lstStyle/>
          <a:p>
            <a:r>
              <a:rPr lang="en-US" dirty="0"/>
              <a:t> Focus:</a:t>
            </a:r>
          </a:p>
          <a:p>
            <a:r>
              <a:rPr lang="en-US" dirty="0"/>
              <a:t> Integrity with well-formed transactions  </a:t>
            </a:r>
          </a:p>
          <a:p>
            <a:r>
              <a:rPr lang="en-US" dirty="0"/>
              <a:t> Purpose: </a:t>
            </a:r>
          </a:p>
          <a:p>
            <a:r>
              <a:rPr lang="en-US" dirty="0"/>
              <a:t>Enforces data integrity by requiring that data be modified only in predefined ways and ensures that only authorized users make changes.   </a:t>
            </a:r>
          </a:p>
          <a:p>
            <a:r>
              <a:rPr lang="en-US" dirty="0"/>
              <a:t>Key Principles:    </a:t>
            </a:r>
          </a:p>
          <a:p>
            <a:r>
              <a:rPr lang="en-US" dirty="0"/>
              <a:t> Well-formed Transactions: Data can only be modified through a defined series of steps that meet integrity requirements.      Separation of Duties: Critical tasks require the involvement of more than one user to minimize fraud or errors.    </a:t>
            </a:r>
          </a:p>
          <a:p>
            <a:r>
              <a:rPr lang="en-US" dirty="0"/>
              <a:t> Access Control Triple: Users, programs, and data items are linked, meaning only authorized users can use authorized programs to access or modify data.   </a:t>
            </a:r>
          </a:p>
          <a:p>
            <a:r>
              <a:rPr lang="en-US" dirty="0"/>
              <a:t>Use Cases: Used in commercial systems like banking and finance, where both accuracy and auditability are essential.</a:t>
            </a:r>
          </a:p>
        </p:txBody>
      </p:sp>
    </p:spTree>
    <p:extLst>
      <p:ext uri="{BB962C8B-B14F-4D97-AF65-F5344CB8AC3E}">
        <p14:creationId xmlns:p14="http://schemas.microsoft.com/office/powerpoint/2010/main" val="3225057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74409-D1A3-DE6E-38FC-4AFB57447F58}"/>
              </a:ext>
            </a:extLst>
          </p:cNvPr>
          <p:cNvSpPr>
            <a:spLocks noGrp="1"/>
          </p:cNvSpPr>
          <p:nvPr>
            <p:ph type="title"/>
          </p:nvPr>
        </p:nvSpPr>
        <p:spPr/>
        <p:txBody>
          <a:bodyPr/>
          <a:lstStyle/>
          <a:p>
            <a:r>
              <a:rPr lang="en-US" dirty="0"/>
              <a:t>Chinese Wall Model</a:t>
            </a:r>
          </a:p>
        </p:txBody>
      </p:sp>
      <p:sp>
        <p:nvSpPr>
          <p:cNvPr id="3" name="Content Placeholder 2">
            <a:extLst>
              <a:ext uri="{FF2B5EF4-FFF2-40B4-BE49-F238E27FC236}">
                <a16:creationId xmlns:a16="http://schemas.microsoft.com/office/drawing/2014/main" id="{D5ED549C-00B3-E699-02A6-988FED9F8B02}"/>
              </a:ext>
            </a:extLst>
          </p:cNvPr>
          <p:cNvSpPr>
            <a:spLocks noGrp="1"/>
          </p:cNvSpPr>
          <p:nvPr>
            <p:ph idx="1"/>
          </p:nvPr>
        </p:nvSpPr>
        <p:spPr/>
        <p:txBody>
          <a:bodyPr>
            <a:noAutofit/>
          </a:bodyPr>
          <a:lstStyle/>
          <a:p>
            <a:r>
              <a:rPr lang="en-US" sz="1700" dirty="0"/>
              <a:t>Focus: </a:t>
            </a:r>
          </a:p>
          <a:p>
            <a:r>
              <a:rPr lang="en-US" sz="1700" dirty="0"/>
              <a:t>Conflict of interest control </a:t>
            </a:r>
          </a:p>
          <a:p>
            <a:r>
              <a:rPr lang="en-US" sz="1700" dirty="0"/>
              <a:t> Purpose: Prevents conflicts of interest by restricting access to information based on previous accesses by the same user.   </a:t>
            </a:r>
          </a:p>
          <a:p>
            <a:r>
              <a:rPr lang="en-US" sz="1700" dirty="0"/>
              <a:t> Key Principles: </a:t>
            </a:r>
          </a:p>
          <a:p>
            <a:r>
              <a:rPr lang="en-US" sz="1700" dirty="0"/>
              <a:t> Data Segregation:</a:t>
            </a:r>
          </a:p>
          <a:p>
            <a:r>
              <a:rPr lang="en-US" sz="1700" dirty="0"/>
              <a:t> Data is divided into conflict classes (groups of data that could represent conflicts of interest).   </a:t>
            </a:r>
          </a:p>
          <a:p>
            <a:r>
              <a:rPr lang="en-US" sz="1700" dirty="0"/>
              <a:t>  - Access Rules: A user can access any information as long as it does not lead to a conflict of interest.   </a:t>
            </a:r>
          </a:p>
          <a:p>
            <a:r>
              <a:rPr lang="en-US" sz="1700" dirty="0"/>
              <a:t> Use Cases:</a:t>
            </a:r>
          </a:p>
          <a:p>
            <a:r>
              <a:rPr lang="en-US" sz="1700" dirty="0"/>
              <a:t> Commonly used in financial services and consulting, where handling sensitive information about competitors or clients must be controlled.</a:t>
            </a:r>
          </a:p>
        </p:txBody>
      </p:sp>
    </p:spTree>
    <p:extLst>
      <p:ext uri="{BB962C8B-B14F-4D97-AF65-F5344CB8AC3E}">
        <p14:creationId xmlns:p14="http://schemas.microsoft.com/office/powerpoint/2010/main" val="3358156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B803E-DCE5-6C9F-F135-90B7C7F30B65}"/>
              </a:ext>
            </a:extLst>
          </p:cNvPr>
          <p:cNvSpPr>
            <a:spLocks noGrp="1"/>
          </p:cNvSpPr>
          <p:nvPr>
            <p:ph type="title"/>
          </p:nvPr>
        </p:nvSpPr>
        <p:spPr/>
        <p:txBody>
          <a:bodyPr/>
          <a:lstStyle/>
          <a:p>
            <a:r>
              <a:rPr lang="en-US" dirty="0"/>
              <a:t>Access Control Models</a:t>
            </a:r>
          </a:p>
        </p:txBody>
      </p:sp>
      <p:sp>
        <p:nvSpPr>
          <p:cNvPr id="3" name="Content Placeholder 2">
            <a:extLst>
              <a:ext uri="{FF2B5EF4-FFF2-40B4-BE49-F238E27FC236}">
                <a16:creationId xmlns:a16="http://schemas.microsoft.com/office/drawing/2014/main" id="{9A07E73E-947F-B339-6AE1-6D62B915922B}"/>
              </a:ext>
            </a:extLst>
          </p:cNvPr>
          <p:cNvSpPr>
            <a:spLocks noGrp="1"/>
          </p:cNvSpPr>
          <p:nvPr>
            <p:ph idx="1"/>
          </p:nvPr>
        </p:nvSpPr>
        <p:spPr/>
        <p:txBody>
          <a:bodyPr>
            <a:normAutofit fontScale="85000" lnSpcReduction="10000"/>
          </a:bodyPr>
          <a:lstStyle/>
          <a:p>
            <a:r>
              <a:rPr lang="en-US" dirty="0"/>
              <a:t> Discretionary Access Control (DAC):</a:t>
            </a:r>
          </a:p>
          <a:p>
            <a:r>
              <a:rPr lang="en-US" dirty="0"/>
              <a:t> Users control access to their resources. Often implemented in file systems where the owner of a file determines access permissions.   - </a:t>
            </a:r>
          </a:p>
          <a:p>
            <a:r>
              <a:rPr lang="en-US" dirty="0"/>
              <a:t>Mandatory Access Control (MAC):</a:t>
            </a:r>
          </a:p>
          <a:p>
            <a:r>
              <a:rPr lang="en-US" dirty="0"/>
              <a:t> Enforces policies set by administrators, usually based on classifications (e.g., classified vs. unclassified) and is often used in environments that require high security.   </a:t>
            </a:r>
          </a:p>
          <a:p>
            <a:r>
              <a:rPr lang="en-US" dirty="0"/>
              <a:t>Role-Based Access Control (RBAC):</a:t>
            </a:r>
          </a:p>
          <a:p>
            <a:r>
              <a:rPr lang="en-US" dirty="0"/>
              <a:t> Users are assigned roles, and permissions are assigned to roles rather than to individual users, simplifying access control in large organizations.</a:t>
            </a:r>
          </a:p>
          <a:p>
            <a:r>
              <a:rPr lang="en-US" dirty="0"/>
              <a:t>Attribute-Based Access Control (ABAC):</a:t>
            </a:r>
          </a:p>
          <a:p>
            <a:r>
              <a:rPr lang="en-US" dirty="0"/>
              <a:t> Access decisions are based on attributes (user attributes, resource attributes, environment conditions), providing more granular access control.</a:t>
            </a:r>
          </a:p>
        </p:txBody>
      </p:sp>
    </p:spTree>
    <p:extLst>
      <p:ext uri="{BB962C8B-B14F-4D97-AF65-F5344CB8AC3E}">
        <p14:creationId xmlns:p14="http://schemas.microsoft.com/office/powerpoint/2010/main" val="2895335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71BA-4F10-746A-AA09-15EEDFA91FC8}"/>
              </a:ext>
            </a:extLst>
          </p:cNvPr>
          <p:cNvSpPr>
            <a:spLocks noGrp="1"/>
          </p:cNvSpPr>
          <p:nvPr>
            <p:ph type="title"/>
          </p:nvPr>
        </p:nvSpPr>
        <p:spPr/>
        <p:txBody>
          <a:bodyPr/>
          <a:lstStyle/>
          <a:p>
            <a:r>
              <a:rPr lang="en-US" dirty="0"/>
              <a:t>Multi-Level Security (MLS)</a:t>
            </a:r>
          </a:p>
        </p:txBody>
      </p:sp>
      <p:sp>
        <p:nvSpPr>
          <p:cNvPr id="3" name="Content Placeholder 2">
            <a:extLst>
              <a:ext uri="{FF2B5EF4-FFF2-40B4-BE49-F238E27FC236}">
                <a16:creationId xmlns:a16="http://schemas.microsoft.com/office/drawing/2014/main" id="{30A05932-C6CC-5550-5959-147D4131FFB4}"/>
              </a:ext>
            </a:extLst>
          </p:cNvPr>
          <p:cNvSpPr>
            <a:spLocks noGrp="1"/>
          </p:cNvSpPr>
          <p:nvPr>
            <p:ph idx="1"/>
          </p:nvPr>
        </p:nvSpPr>
        <p:spPr/>
        <p:txBody>
          <a:bodyPr>
            <a:normAutofit/>
          </a:bodyPr>
          <a:lstStyle/>
          <a:p>
            <a:r>
              <a:rPr lang="en-US" sz="1700" dirty="0"/>
              <a:t> MLS systems enforce multiple layers of classification and control access based on clearance levels, ensuring sensitive data is only accessible to users with the appropriate security level.</a:t>
            </a:r>
          </a:p>
          <a:p>
            <a:r>
              <a:rPr lang="en-US" sz="1700" dirty="0"/>
              <a:t>  Use Case:</a:t>
            </a:r>
          </a:p>
          <a:p>
            <a:r>
              <a:rPr lang="en-US" sz="1700" dirty="0"/>
              <a:t> Often used in government or military systems where data must be tightly controlled across different classification levels.</a:t>
            </a:r>
          </a:p>
        </p:txBody>
      </p:sp>
    </p:spTree>
    <p:extLst>
      <p:ext uri="{BB962C8B-B14F-4D97-AF65-F5344CB8AC3E}">
        <p14:creationId xmlns:p14="http://schemas.microsoft.com/office/powerpoint/2010/main" val="2697347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F59E3-EC69-A2F6-84C3-174CF3F2F98C}"/>
              </a:ext>
            </a:extLst>
          </p:cNvPr>
          <p:cNvSpPr>
            <a:spLocks noGrp="1"/>
          </p:cNvSpPr>
          <p:nvPr>
            <p:ph type="title"/>
          </p:nvPr>
        </p:nvSpPr>
        <p:spPr/>
        <p:txBody>
          <a:bodyPr/>
          <a:lstStyle/>
          <a:p>
            <a:r>
              <a:rPr lang="en-US" dirty="0"/>
              <a:t>Non-Interference Model</a:t>
            </a:r>
          </a:p>
        </p:txBody>
      </p:sp>
      <p:sp>
        <p:nvSpPr>
          <p:cNvPr id="3" name="Content Placeholder 2">
            <a:extLst>
              <a:ext uri="{FF2B5EF4-FFF2-40B4-BE49-F238E27FC236}">
                <a16:creationId xmlns:a16="http://schemas.microsoft.com/office/drawing/2014/main" id="{1C22BF83-CDF6-972F-C5D6-9F72C4FDC78C}"/>
              </a:ext>
            </a:extLst>
          </p:cNvPr>
          <p:cNvSpPr>
            <a:spLocks noGrp="1"/>
          </p:cNvSpPr>
          <p:nvPr>
            <p:ph idx="1"/>
          </p:nvPr>
        </p:nvSpPr>
        <p:spPr/>
        <p:txBody>
          <a:bodyPr/>
          <a:lstStyle/>
          <a:p>
            <a:r>
              <a:rPr lang="en-US" dirty="0"/>
              <a:t>Focus: </a:t>
            </a:r>
          </a:p>
          <a:p>
            <a:r>
              <a:rPr lang="en-US" dirty="0"/>
              <a:t>Prevents actions at one level of security from affecting or interfering with actions at another level. </a:t>
            </a:r>
          </a:p>
          <a:p>
            <a:r>
              <a:rPr lang="en-US" dirty="0"/>
              <a:t>  Purpose:</a:t>
            </a:r>
          </a:p>
          <a:p>
            <a:r>
              <a:rPr lang="en-US" dirty="0"/>
              <a:t> Ensures that high-level actions cannot influence low-level users or processes, thus maintaining confidentiality.  </a:t>
            </a:r>
          </a:p>
          <a:p>
            <a:r>
              <a:rPr lang="en-US" dirty="0"/>
              <a:t> Use Cases:</a:t>
            </a:r>
          </a:p>
          <a:p>
            <a:r>
              <a:rPr lang="en-US" dirty="0"/>
              <a:t> Suitable for environments with strict confidentiality requirements, where even indirect influence of secure data must be controlled.</a:t>
            </a:r>
          </a:p>
        </p:txBody>
      </p:sp>
    </p:spTree>
    <p:extLst>
      <p:ext uri="{BB962C8B-B14F-4D97-AF65-F5344CB8AC3E}">
        <p14:creationId xmlns:p14="http://schemas.microsoft.com/office/powerpoint/2010/main" val="4286769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9FAFB-CAD9-5D03-9EA0-4DE2D2607688}"/>
              </a:ext>
            </a:extLst>
          </p:cNvPr>
          <p:cNvSpPr>
            <a:spLocks noGrp="1"/>
          </p:cNvSpPr>
          <p:nvPr>
            <p:ph type="title"/>
          </p:nvPr>
        </p:nvSpPr>
        <p:spPr/>
        <p:txBody>
          <a:bodyPr/>
          <a:lstStyle/>
          <a:p>
            <a:r>
              <a:rPr lang="en-US" dirty="0"/>
              <a:t>Summary of Key Elements in Protection Models:</a:t>
            </a:r>
          </a:p>
        </p:txBody>
      </p:sp>
      <p:sp>
        <p:nvSpPr>
          <p:cNvPr id="3" name="Content Placeholder 2">
            <a:extLst>
              <a:ext uri="{FF2B5EF4-FFF2-40B4-BE49-F238E27FC236}">
                <a16:creationId xmlns:a16="http://schemas.microsoft.com/office/drawing/2014/main" id="{51C5A650-5E7F-00DB-9B74-183D95280B39}"/>
              </a:ext>
            </a:extLst>
          </p:cNvPr>
          <p:cNvSpPr>
            <a:spLocks noGrp="1"/>
          </p:cNvSpPr>
          <p:nvPr>
            <p:ph idx="1"/>
          </p:nvPr>
        </p:nvSpPr>
        <p:spPr/>
        <p:txBody>
          <a:bodyPr>
            <a:normAutofit/>
          </a:bodyPr>
          <a:lstStyle/>
          <a:p>
            <a:r>
              <a:rPr lang="en-US" sz="1700" dirty="0"/>
              <a:t>Confidentiality: </a:t>
            </a:r>
          </a:p>
          <a:p>
            <a:r>
              <a:rPr lang="en-US" sz="1700" dirty="0"/>
              <a:t>Restricting unauthorized users from accessing information (e.g., Bell-</a:t>
            </a:r>
            <a:r>
              <a:rPr lang="en-US" sz="1700" dirty="0" err="1"/>
              <a:t>LaPadula</a:t>
            </a:r>
            <a:r>
              <a:rPr lang="en-US" sz="1700" dirty="0"/>
              <a:t> Model). </a:t>
            </a:r>
          </a:p>
          <a:p>
            <a:r>
              <a:rPr lang="en-US" sz="1700" dirty="0"/>
              <a:t> Integrity:</a:t>
            </a:r>
          </a:p>
          <a:p>
            <a:r>
              <a:rPr lang="en-US" sz="1700" dirty="0"/>
              <a:t> Ensuring data is accurate and only modified by authorized personnel (e.g., Biba and Clark-Wilson Models). </a:t>
            </a:r>
          </a:p>
          <a:p>
            <a:r>
              <a:rPr lang="en-US" sz="1700" dirty="0"/>
              <a:t> Availability:</a:t>
            </a:r>
          </a:p>
          <a:p>
            <a:r>
              <a:rPr lang="en-US" sz="1700" dirty="0"/>
              <a:t> Keeping information and resources available for authorized users.   - Least Privilege:</a:t>
            </a:r>
          </a:p>
          <a:p>
            <a:r>
              <a:rPr lang="en-US" sz="1700" dirty="0"/>
              <a:t> Users should have the minimum access required to perform their duties.   Separation of Duties: </a:t>
            </a:r>
          </a:p>
          <a:p>
            <a:r>
              <a:rPr lang="en-US" sz="1700" dirty="0"/>
              <a:t>Reduces the risk of fraud or mistakes by dividing tasks among multiple people.</a:t>
            </a:r>
          </a:p>
        </p:txBody>
      </p:sp>
    </p:spTree>
    <p:extLst>
      <p:ext uri="{BB962C8B-B14F-4D97-AF65-F5344CB8AC3E}">
        <p14:creationId xmlns:p14="http://schemas.microsoft.com/office/powerpoint/2010/main" val="40014419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docProps/app.xml><?xml version="1.0" encoding="utf-8"?>
<Properties xmlns="http://schemas.openxmlformats.org/officeDocument/2006/extended-properties" xmlns:vt="http://schemas.openxmlformats.org/officeDocument/2006/docPropsVTypes">
  <Template>Ion</Template>
  <TotalTime>28</TotalTime>
  <Words>842</Words>
  <Application>Microsoft Office PowerPoint</Application>
  <PresentationFormat>Widescreen</PresentationFormat>
  <Paragraphs>70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Ion</vt:lpstr>
      <vt:lpstr>Name   Arqum Hanif Roll no  60628 Class     Bs-CS-3rd(M) Subject  Information Security</vt:lpstr>
      <vt:lpstr>Protection Model </vt:lpstr>
      <vt:lpstr>Definition</vt:lpstr>
      <vt:lpstr>*Bell-LaPadula (BLP) Model*</vt:lpstr>
      <vt:lpstr> Biba Model</vt:lpstr>
      <vt:lpstr>Clark-Wilson Model</vt:lpstr>
      <vt:lpstr>Chinese Wall Model</vt:lpstr>
      <vt:lpstr>Access Control Models</vt:lpstr>
      <vt:lpstr>Multi-Level Security (MLS)</vt:lpstr>
      <vt:lpstr>Non-Interference Model</vt:lpstr>
      <vt:lpstr>Summary of Key Elements in Protection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Protection Model </dc:title>
  <dc:creator>HOME</dc:creator>
  <cp:lastModifiedBy>HOME</cp:lastModifiedBy>
  <cp:revision>2</cp:revision>
  <dcterms:created xsi:type="dcterms:W3CDTF">2024-10-30T15:22:20Z</dcterms:created>
  <dcterms:modified xsi:type="dcterms:W3CDTF">2024-10-30T15:50:47Z</dcterms:modified>
</cp:coreProperties>
</file>